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57" r:id="rId9"/>
    <p:sldId id="258" r:id="rId10"/>
    <p:sldId id="259" r:id="rId11"/>
    <p:sldId id="266" r:id="rId12"/>
    <p:sldId id="268" r:id="rId13"/>
    <p:sldId id="274" r:id="rId14"/>
    <p:sldId id="275" r:id="rId15"/>
    <p:sldId id="276" r:id="rId16"/>
    <p:sldId id="270" r:id="rId17"/>
    <p:sldId id="277" r:id="rId18"/>
    <p:sldId id="271" r:id="rId19"/>
    <p:sldId id="272" r:id="rId2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5" d="100"/>
          <a:sy n="85" d="100"/>
        </p:scale>
        <p:origin x="-48" y="-5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8748-2515-4448-AFB0-4E0BAD67A439}" type="datetimeFigureOut">
              <a:rPr lang="en-US" smtClean="0"/>
              <a:pPr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68760"/>
            <a:ext cx="7772400" cy="936104"/>
          </a:xfrm>
        </p:spPr>
        <p:txBody>
          <a:bodyPr>
            <a:normAutofit/>
          </a:bodyPr>
          <a:lstStyle/>
          <a:p>
            <a:r>
              <a:rPr lang="en-US" sz="1800" b="1" dirty="0" smtClean="0">
                <a:latin typeface="Arial" pitchFamily="34" charset="0"/>
                <a:cs typeface="Arial" pitchFamily="34" charset="0"/>
              </a:rPr>
              <a:t>NATIONAL AND KAPODISTRIAN UNIVERSITY OF ATHENS</a:t>
            </a:r>
            <a:br>
              <a:rPr lang="en-US" sz="1800" b="1" dirty="0" smtClean="0">
                <a:latin typeface="Arial" pitchFamily="34" charset="0"/>
                <a:cs typeface="Arial" pitchFamily="34" charset="0"/>
              </a:rPr>
            </a:b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 DEPARTMENT OF INFORMATICS AND TELECOMMUNICATIONS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9592" y="5301208"/>
            <a:ext cx="6944816" cy="1080120"/>
          </a:xfrm>
        </p:spPr>
        <p:txBody>
          <a:bodyPr>
            <a:noAutofit/>
          </a:bodyPr>
          <a:lstStyle/>
          <a:p>
            <a:pPr algn="l"/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Supervisor: Kosmas Kritsis, Research Associate, ILSP, ATHENA R.C.</a:t>
            </a:r>
          </a:p>
          <a:p>
            <a:pPr algn="l"/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Examiners: Aggelos Pikrakis, Associate Professor, University of Piraeus </a:t>
            </a:r>
          </a:p>
          <a:p>
            <a:pPr algn="l"/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 Georgios Paraskevopoulos, Researcher C, ILSP, ATHENA R.C.</a:t>
            </a:r>
          </a:p>
          <a:p>
            <a:pPr algn="l"/>
            <a:r>
              <a:rPr lang="en-US" sz="12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</a:t>
            </a:r>
          </a:p>
          <a:p>
            <a:pPr algn="l"/>
            <a:endParaRPr lang="en-US" sz="12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  <a:p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Athens, 2026</a:t>
            </a:r>
            <a:endParaRPr lang="en-US" sz="12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51520" y="2348880"/>
            <a:ext cx="8640960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b="1" dirty="0" smtClean="0">
                <a:latin typeface="Arial" pitchFamily="34" charset="0"/>
                <a:cs typeface="Arial" pitchFamily="34" charset="0"/>
              </a:rPr>
              <a:t>MSc Thesis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Modular LLM Pipeline for </a:t>
            </a: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Task-Oriented Customer Service Dialogue</a:t>
            </a:r>
          </a:p>
          <a:p>
            <a:endParaRPr lang="en-US" sz="32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Georgios Xydias</a:t>
            </a:r>
            <a:endParaRPr lang="en-US" sz="2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1" descr="LOGO_UOA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053303" y="0"/>
            <a:ext cx="1037395" cy="13407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Motivation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412776"/>
            <a:ext cx="8229600" cy="51125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Customer service in hotels and restaurants is: 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High-volume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Repetitive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Rule-bound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makes it a natural target for AI automation, since today the work is handled by human staff at significant cost in labor and errors, with no 24/7 availability.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Modern LLMs enable fluent multi-turn conversation, but cost, hallucination, and control remain open challenges.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Goal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: investigate the architectural choices that lead to a TOD system for customer service that is reliable, controllable and affordable.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Research Questions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Does architectural decomposition into specialized LLM modules (DST + ResponseGen) improve dialogue performance over a single-LLM baseline?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Does role-specific LoRA fine-tuning of each module yield further improvement on top of decomposition?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Dataset: MultiWOZ 2.2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 schema-guided benchmark for task-oriented dialogue.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10,437 multi-turn dialogues across 7 service domains</a:t>
            </a:r>
          </a:p>
          <a:p>
            <a:pPr marL="0" indent="0"/>
            <a:r>
              <a:rPr lang="en-US" sz="2000" dirty="0" smtClean="0">
                <a:latin typeface="Arial" pitchFamily="34" charset="0"/>
                <a:cs typeface="Arial" pitchFamily="34" charset="0"/>
              </a:rPr>
              <a:t> Per-turn annotations: belief state (intent + slot values), dialog acts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Per-domain database with real entities for grounded   recommendations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thesis evaluates on hotel + restaurant only, the two most frequent and information-rich domains, matching the hospitality customer-service scope.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fr-FR" sz="2000" dirty="0" smtClean="0">
                <a:latin typeface="Arial" pitchFamily="34" charset="0"/>
                <a:cs typeface="Arial" pitchFamily="34" charset="0"/>
              </a:rPr>
              <a:t>Filtered subset: 2,850 train, 171 dev and 186 test dialogues.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Positioning This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recurring strategies across eras: information enrichment + task decomposition. In LLMs: parameter-efficient fine-tuning.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Three trends shape modern LLM-based TOD research: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Information enrichment: 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Schema-guided prompts (SGP-TOD 2023)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Examples from training set (Hudeček &amp; Dušek, few-shot variant)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Task Decomposition: modular pipelines / multi-agent LLMs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(Hudeček &amp; Dušek 2023, DARD 2024, DIMF 2025)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PEFT: LoRA fine-tuning (Spec-TOD 2025)</a:t>
            </a:r>
          </a:p>
          <a:p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work sits at the intersection with controlled comparisons isolating each variable: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architectural decomposition and role-specific LoRA fine-tuning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Experimental Design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1.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Single-LLM Baseline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One LLM handles DST, DB selection, and response generation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in a single prompt.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2. Zero-Shot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Two specialized LLMs: DST extracts the belief state, a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deterministic DB lookup runs, ResponseGen writes the reply.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3. Fine-Tuned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Same architecture as Exp 2, but each LLM module is replaced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by a LoRA fine-tuned adapter for its role.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Progression: monolithic → modular → modular + fine-tuned.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Single-LLM Baseline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4032448"/>
          </a:xfrm>
        </p:spPr>
        <p:txBody>
          <a:bodyPr>
            <a:noAutofit/>
          </a:bodyPr>
          <a:lstStyle/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6" name="Picture 5" descr="exp1_architectur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1268760"/>
            <a:ext cx="9144000" cy="457647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Zero-Shot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6" name="Content Placeholder 5" descr="exp2_architecture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0" y="1628800"/>
            <a:ext cx="9144000" cy="3456384"/>
          </a:xfr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Fine-Tuned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091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(Exp 2 + LoRA fine-tuning):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DST(LoRA)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ResponseGen(LoRA)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Fine-tuning setup (QLoRA via Unsloth):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Base model: open-source LLM, 4-bit quantized (NF4)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LoRA adapter: applied to attention + MLP layers (rank 16)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Trainable parameters: ~0.75% of total weights (e.g., 24M of 3.2B for LLaMA-3.2)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Two adapters per config: one DST, one ResponseGen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 on MultiWOZ train split, validate with early stopping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Tests whether role-specific fine-tuning improves over Exp 2.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Models and Infrastructure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28800"/>
            <a:ext cx="8229600" cy="460851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Commercial APIs (used in Exp 1, Exp 2):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GPT-4o-mini (OpenAI)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Claude 3 Haiku (Anthropic)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Open-source LLMs (used in Exp 1, Exp 2, Exp 3):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LLaMA-3.2-3B,  LLaMA-3.1-8B (Meta)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Qwen3-4B / 8B / 14B (Alibaba)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Phi-4-14B (Microsoft)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Range: 3B to 14B parameters, 16K to 200K context windows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Infrastructure: EuroHPC Leonardo (CINECA, Italy), NVIDIA A100 GPU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Evaluation Metrics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0808"/>
            <a:ext cx="8229600" cy="46805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MultiWOZ metrics: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JGA, Slot F1: belief state accuracy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Inform, Success: task completion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BLEU: response quality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Combined: (Inform + Success) / 2 + BLEU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(operational): Hallucination Rate, Policy Violation Rate, Domain / Intent Precision, Latency (s), API Cost ($).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metrics use the same protocol as published TOD work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(hotel + restaurant only, not directly comparable to full-domain scores).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reflect control and deployment realism.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6923112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2512"/>
                <a:gridCol w="648072"/>
                <a:gridCol w="864096"/>
                <a:gridCol w="864096"/>
                <a:gridCol w="1008112"/>
                <a:gridCol w="792088"/>
                <a:gridCol w="1224136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Model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25.8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74.3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24.8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3.08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2.59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2.30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67544" y="4509120"/>
            <a:ext cx="7920880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Haiku leads, but at $21 in API fees, ~8× more than GPT-4o-mini ($2.75)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Qwen3-14B is the best open-source, close to API quality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LLaMA-3.1-8B fails entirely, Qwen3 scaling non-monotonic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119495" cy="3962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4.25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Haiku → GPT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87.7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 →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3.92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5.00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26.7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77.2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2.83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18.1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5301209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l-GR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l-GR" sz="1600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API cost drops 10×: Haiku $21 → $2.10, GPT $2.75 → $0.20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Decomposition helps weak models dramatically: LLaMA-3.1-8B, GPT-4o-mini,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but hurts strong open-source: Qwen3-14B, Phi-4-14B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DST is the bottleneck: Haiku → GPT vs GPT → Haiku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119495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12.26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46.9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47.3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48.4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11.35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9.39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9.22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4005064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Fine-tuning closes the DST gap with commercial APIs: Qwen3-14B FT reaches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JGA 47.7, matching Haiku Exp 2 (45.1)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But Combined Score stays at ~71, 21 points behind Haiku (91.4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Phi-4-14B recovers from its Exp 2 drop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Cross-Experiment Synthesis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5112568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41550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Best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95536" y="4221088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No single architecture wins for every model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Three patterns: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up: LLaMA family, Qwen3-8B (every step helps)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down: Qwen3-14B (already grounded, hurt by each step)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Non-monotonic: Phi-4-14B, Qwen3-4B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Key Findings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49685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Architectural decomposition.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Helps conditionally. Weak base models gain.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Already-strong open-source models lose ground.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DST is the dominant bottleneck.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Role-specific LoRA fine-tuning.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Closes the DST gap with commercial APIs.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End-to-end Combined stays below APIs. 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Observed pattern: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Disciplined models tend to peak in Exp 1.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Undisciplined ones tend to gain from Exp 2 or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Contributions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Controlled three-experiment design that isolates architectural decomposition (Exp 1 → Exp 2) and role-specific LoRA fine-tuning (Exp 2 → Exp 3) on the same data and metrics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Head-to-head comparison of commercial APIs and small open-source models (3B–14B) across all three architectures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Empirical evidence, across model families, that DST is the dominant bottleneck in modular pipelines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Limitations and Future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971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Limitations: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Results sensitive to implementation choices (prompts, delex protocol, fine-tuning hyperparameters)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Domain scope: hotel + restaurant only, not directly comparable to full-domain MultiWOZ leaderboard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Future Work: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Extend to all MultiWOZ domains, or specialize to a single domain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Explore prompting alternatives, e.g., retrieval-augmented few-shot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DPO post-training: preference-based fine-tuning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Workflow-graph orchestration with tool calling for booking flows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72307"/>
            <a:ext cx="8229600" cy="4713387"/>
          </a:xfrm>
        </p:spPr>
        <p:txBody>
          <a:bodyPr>
            <a:normAutofit/>
          </a:bodyPr>
          <a:lstStyle/>
          <a:p>
            <a:pPr algn="ctr">
              <a:buNone/>
            </a:pPr>
            <a:r>
              <a:rPr lang="en-US" sz="8000" b="1" dirty="0" smtClean="0">
                <a:latin typeface="Arial" pitchFamily="34" charset="0"/>
                <a:cs typeface="Arial" pitchFamily="34" charset="0"/>
              </a:rPr>
              <a:t>Thank you</a:t>
            </a:r>
            <a:endParaRPr lang="en-US" sz="8000" b="1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3767</TotalTime>
  <Words>1510</Words>
  <Application>Microsoft Office PowerPoint</Application>
  <PresentationFormat>On-screen Show (4:3)</PresentationFormat>
  <Paragraphs>419</Paragraphs>
  <Slides>19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0" baseType="lpstr">
      <vt:lpstr>Office Theme</vt:lpstr>
      <vt:lpstr>NATIONAL AND KAPODISTRIAN UNIVERSITY OF ATHENS  DEPARTMENT OF INFORMATICS AND TELECOMMUNICATIONS</vt:lpstr>
      <vt:lpstr>Motivation</vt:lpstr>
      <vt:lpstr>Research Questions</vt:lpstr>
      <vt:lpstr>Dataset: MultiWOZ 2.2</vt:lpstr>
      <vt:lpstr>Positioning This Work</vt:lpstr>
      <vt:lpstr>Experimental Design</vt:lpstr>
      <vt:lpstr>Exp 1: Single-LLM Baseline</vt:lpstr>
      <vt:lpstr>Exp 2: Zero-Shot Modular Pipeline</vt:lpstr>
      <vt:lpstr>Exp 3: Fine-Tuned Modular Pipeline</vt:lpstr>
      <vt:lpstr>Models and Infrastructure</vt:lpstr>
      <vt:lpstr>Evaluation Metrics</vt:lpstr>
      <vt:lpstr>Exp 1: Results</vt:lpstr>
      <vt:lpstr>Exp 2: Results</vt:lpstr>
      <vt:lpstr>Exp 3: Results</vt:lpstr>
      <vt:lpstr>Cross-Experiment Synthesis</vt:lpstr>
      <vt:lpstr>Key Findings</vt:lpstr>
      <vt:lpstr>Contributions</vt:lpstr>
      <vt:lpstr>Limitations and Future Work</vt:lpstr>
      <vt:lpstr>Slide 19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Giorgos Xidias</dc:creator>
  <cp:lastModifiedBy>Giorgos Xidias</cp:lastModifiedBy>
  <cp:revision>197</cp:revision>
  <dcterms:created xsi:type="dcterms:W3CDTF">2026-05-18T05:31:02Z</dcterms:created>
  <dcterms:modified xsi:type="dcterms:W3CDTF">2026-06-17T03:24:32Z</dcterms:modified>
</cp:coreProperties>
</file>