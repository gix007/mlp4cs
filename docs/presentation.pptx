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61" r:id="rId4"/>
    <p:sldId id="262" r:id="rId5"/>
    <p:sldId id="263" r:id="rId6"/>
    <p:sldId id="264" r:id="rId7"/>
    <p:sldId id="265" r:id="rId8"/>
    <p:sldId id="257" r:id="rId9"/>
    <p:sldId id="258" r:id="rId10"/>
    <p:sldId id="259" r:id="rId11"/>
    <p:sldId id="266" r:id="rId12"/>
    <p:sldId id="268" r:id="rId13"/>
    <p:sldId id="274" r:id="rId14"/>
    <p:sldId id="275" r:id="rId15"/>
    <p:sldId id="276" r:id="rId16"/>
    <p:sldId id="270" r:id="rId17"/>
    <p:sldId id="271" r:id="rId18"/>
    <p:sldId id="272" r:id="rId19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89" d="100"/>
          <a:sy n="89" d="100"/>
        </p:scale>
        <p:origin x="-63" y="-4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5/21/2026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5/21/2026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5/21/2026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1D8748-2515-4448-AFB0-4E0BAD67A439}" type="datetimeFigureOut">
              <a:rPr lang="en-US" smtClean="0"/>
              <a:pPr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268760"/>
            <a:ext cx="7772400" cy="936104"/>
          </a:xfrm>
        </p:spPr>
        <p:txBody>
          <a:bodyPr>
            <a:normAutofit/>
          </a:bodyPr>
          <a:lstStyle/>
          <a:p>
            <a:r>
              <a:rPr lang="en-US" sz="1800" b="1" dirty="0" smtClean="0">
                <a:latin typeface="Arial" pitchFamily="34" charset="0"/>
                <a:cs typeface="Arial" pitchFamily="34" charset="0"/>
              </a:rPr>
              <a:t>NATIONAL AND KAPODISTRIAN UNIVERSITY OF ATHENS</a:t>
            </a:r>
            <a:br>
              <a:rPr lang="en-US" sz="1800" b="1" dirty="0" smtClean="0">
                <a:latin typeface="Arial" pitchFamily="34" charset="0"/>
                <a:cs typeface="Arial" pitchFamily="34" charset="0"/>
              </a:rPr>
            </a:br>
            <a:r>
              <a:rPr lang="en-US" sz="1800" b="1" dirty="0" smtClean="0">
                <a:latin typeface="Arial" pitchFamily="34" charset="0"/>
                <a:cs typeface="Arial" pitchFamily="34" charset="0"/>
              </a:rPr>
              <a:t> DEPARTMENT OF INFORMATICS AND TELECOMMUNICATIONS</a:t>
            </a:r>
            <a:endParaRPr lang="en-US" sz="18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99592" y="5301208"/>
            <a:ext cx="6944816" cy="1080120"/>
          </a:xfrm>
        </p:spPr>
        <p:txBody>
          <a:bodyPr>
            <a:normAutofit fontScale="92500" lnSpcReduction="20000"/>
          </a:bodyPr>
          <a:lstStyle/>
          <a:p>
            <a:pPr algn="l"/>
            <a:r>
              <a:rPr lang="en-US" sz="14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Supervisor: Kosmas Kritsis, Scientific Associate, ILSP, Athena Research Center</a:t>
            </a:r>
          </a:p>
          <a:p>
            <a:pPr algn="l"/>
            <a:r>
              <a:rPr lang="en-US" sz="14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Examiners: Vasilis Katsouros, Director of ILSP, Athena Research Center</a:t>
            </a:r>
          </a:p>
          <a:p>
            <a:pPr algn="l"/>
            <a:r>
              <a:rPr lang="en-US" sz="1400" dirty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 </a:t>
            </a:r>
            <a:r>
              <a:rPr lang="en-US" sz="14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                  Aggelos Pikrakis, Associate Professor, University of Piraeus</a:t>
            </a:r>
          </a:p>
          <a:p>
            <a:pPr algn="l"/>
            <a:endParaRPr lang="en-US" sz="1400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  <a:p>
            <a:r>
              <a:rPr lang="en-US" sz="15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Athens, 2026</a:t>
            </a:r>
            <a:endParaRPr lang="en-US" sz="1500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251520" y="2348880"/>
            <a:ext cx="8640960" cy="24006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b="1" dirty="0" smtClean="0">
                <a:latin typeface="Arial" pitchFamily="34" charset="0"/>
                <a:cs typeface="Arial" pitchFamily="34" charset="0"/>
              </a:rPr>
              <a:t>MSc Thesis</a:t>
            </a:r>
          </a:p>
          <a:p>
            <a:endParaRPr lang="en-US" dirty="0">
              <a:latin typeface="Arial" pitchFamily="34" charset="0"/>
              <a:cs typeface="Arial" pitchFamily="34" charset="0"/>
            </a:endParaRPr>
          </a:p>
          <a:p>
            <a:pPr algn="ctr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Modular LLM Pipeline for </a:t>
            </a:r>
          </a:p>
          <a:p>
            <a:pPr algn="ctr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Task-Oriented Customer Service Dialogue</a:t>
            </a:r>
          </a:p>
          <a:p>
            <a:endParaRPr lang="en-US" sz="3200" b="1" dirty="0">
              <a:latin typeface="Arial" pitchFamily="34" charset="0"/>
              <a:cs typeface="Arial" pitchFamily="34" charset="0"/>
            </a:endParaRPr>
          </a:p>
          <a:p>
            <a:pPr algn="ctr"/>
            <a:r>
              <a:rPr lang="en-US" sz="2000" b="1" dirty="0" smtClean="0">
                <a:latin typeface="Arial" pitchFamily="34" charset="0"/>
                <a:cs typeface="Arial" pitchFamily="34" charset="0"/>
              </a:rPr>
              <a:t>Georgios Xydias</a:t>
            </a:r>
            <a:endParaRPr lang="en-US" sz="2000" b="1" dirty="0">
              <a:latin typeface="Arial" pitchFamily="34" charset="0"/>
              <a:cs typeface="Arial" pitchFamily="34" charset="0"/>
            </a:endParaRPr>
          </a:p>
        </p:txBody>
      </p:sp>
      <p:pic>
        <p:nvPicPr>
          <p:cNvPr id="1026" name="Picture 1" descr="LOGO_UOA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053303" y="0"/>
            <a:ext cx="1037395" cy="134076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Motivation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7544" y="1412776"/>
            <a:ext cx="8229600" cy="4896544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Customer service in hotels and restaurants is: 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High-volume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Repetitive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Rule-bound</a:t>
            </a:r>
          </a:p>
          <a:p>
            <a:pPr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This makes it a natural target for AI automation, since today the work is handled by human staff at significant cost in labor, errors, and no 24/7 availability.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Modern LLMs enable fluent multi-turn conversation, but cost, hallucination, and control remain open challenges.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Goal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: a customer-service dialogue system that is reliable, controllable and affordable.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Research Questions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Question 1: Does architectural decomposition into specialized LLM modules (DST + ResponseGen) improve dialogue performance over a single-LLM baseline?</a:t>
            </a:r>
          </a:p>
          <a:p>
            <a:pPr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Question 2: Does role-specific LoRA fine-tuning of each module yield further improvement on top of decomposition?</a:t>
            </a: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Both questions are evaluated across commercial API models (GPT-4o-mini, Claude 3 Haiku) and open-source models (LLaMA, Qwen, Phi).</a:t>
            </a:r>
          </a:p>
          <a:p>
            <a:pPr marL="0" indent="0"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Dataset: MultiWOZ 2.2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A schema-guided benchmark for task-oriented dialogue.</a:t>
            </a:r>
          </a:p>
          <a:p>
            <a:pPr marL="0" indent="0"/>
            <a:r>
              <a:rPr lang="en-US" sz="2000" dirty="0">
                <a:latin typeface="Arial" pitchFamily="34" charset="0"/>
                <a:cs typeface="Arial" pitchFamily="34" charset="0"/>
              </a:rPr>
              <a:t>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10,437 multi-turn dialogues across 7 service domains</a:t>
            </a:r>
          </a:p>
          <a:p>
            <a:pPr marL="0" indent="0"/>
            <a:r>
              <a:rPr lang="en-US" sz="2000" dirty="0" smtClean="0">
                <a:latin typeface="Arial" pitchFamily="34" charset="0"/>
                <a:cs typeface="Arial" pitchFamily="34" charset="0"/>
              </a:rPr>
              <a:t> Per-turn annotations: belief state (intent + slot values), dialog acts</a:t>
            </a:r>
          </a:p>
          <a:p>
            <a:pPr marL="0" indent="0"/>
            <a:r>
              <a:rPr lang="en-US" sz="2000" dirty="0">
                <a:latin typeface="Arial" pitchFamily="34" charset="0"/>
                <a:cs typeface="Arial" pitchFamily="34" charset="0"/>
              </a:rPr>
              <a:t>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Per-domain database with real entities for grounded recommendations</a:t>
            </a: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This thesis evaluates on hotel + restaurant only, the two most frequent and information-rich domains, matching the hospitality customer-service scope.</a:t>
            </a:r>
          </a:p>
          <a:p>
            <a:pPr marL="0" indent="0"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fr-FR" sz="2000" dirty="0" smtClean="0">
                <a:latin typeface="Arial" pitchFamily="34" charset="0"/>
                <a:cs typeface="Arial" pitchFamily="34" charset="0"/>
              </a:rPr>
              <a:t>Filtered subset: 2,850 train, 171 dev and 186 test dialogues.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Positioning This Work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12776"/>
            <a:ext cx="8229600" cy="525658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Two recurring strategies across eras: information enrichment + task decomposition. In LLMs: parameter-efficient fine-tuning.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Three trends shape modern LLM-based TOD research: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Zero-shot LLM pipelines (Hudeček &amp; Dušek 2023, SGP-TOD 2023)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Modular / multi-agent LLMs (DARD 2024, DIMF 2025)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PEFT for TOD (LDST 2024, Spec-TOD 2025)</a:t>
            </a:r>
          </a:p>
          <a:p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This work sits at the intersection with controlled comparisons along two axes:</a:t>
            </a: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Exp 1 → Exp 2: isolates architectural decomposition</a:t>
            </a:r>
          </a:p>
          <a:p>
            <a:pPr marL="0" indent="0">
              <a:buNone/>
            </a:pPr>
            <a:r>
              <a:rPr lang="en-US" sz="2000" dirty="0">
                <a:latin typeface="Arial" pitchFamily="34" charset="0"/>
                <a:cs typeface="Arial" pitchFamily="34" charset="0"/>
              </a:rPr>
              <a:t>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 Exp 2 → Exp 3: isolates role-specific LoRA fine-tuning</a:t>
            </a:r>
          </a:p>
          <a:p>
            <a:pPr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Experimental Design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141168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Exp 1.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Single-LLM Baseline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One LLM handles DST, DB selection, and response generation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in a single prompt.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Exp 2. Zero-Shot Modular Pipeline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Two specialized LLMs: DST extracts the belief state, a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deterministic DB lookup runs, ResponseGen writes the reply.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Exp 3. Fine-Tuned Modular Pipeline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Same architecture as Exp 2, but each LLM module is replaced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by a LoRA fine-tuned adapter for its role.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Progression: monolithic → modular → modular + fine-tuned.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1: Single-LLM Baseline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340768"/>
            <a:ext cx="8229600" cy="5517232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Architecture (one LLM call per turn):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Dialogue History + DB → LLM → Policy → supervisor → lexicalize → Response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The LLM produces in a single prompt: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Belief state (domain, intent, slot values)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Entity selection from the database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Delexicalized response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External wrappers (rule-based):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policy: verifies booking-rule compliance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supervisor: validates the response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lexicalize: fills placeholders with real entity values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Establishes the upper limit of a monolithic LLM approach.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2: Zero-Shot Modular Pipeline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68760"/>
            <a:ext cx="8229600" cy="5472608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Architecture (two LLM calls per turn):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Dialogue History → DST → Policy → DB → ResponseGen  → supervisor → lexicalize → Response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Two LLM calls (zero-shot, prompted):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DST: extracts belief state (domain, intent, slot values)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ResponseGen: writes a delexicalized response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Rule-based code (no LLM):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Policy: checks required booking slots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DB query: retrieves matching entities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supervisor: validates response, retries up to 2 times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lexicalize: fills placeholders with real entity values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Decomposes the monolithic task into focused, role-specialized calls.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3: Fine-Tuned Modular Pipeline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709120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Architecture (Exp 2 + LoRA fine-tuning):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Dialogue History → DST(LoRA) → Policy → DB → ResponseGen(LoRA) → supervisor → lexicalize → Response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Fine-tuning setup (QLoRA via Unsloth):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Base model: open-source LLM, 4-bit quantized (NF4)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LoRA adapter: applied to attention + MLP layers (rank 16)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Trainable parameters: ~0.75% of total weights (e.g., 24M of 3.2B for LLaMA-3.2-3B)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Two adapters per config: one DST, one ResponseGen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Train on MultiWOZ train split, validate with early stopping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Tests whether role-specific fine-tuning improves over Exp 2.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Models and Infrastructure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84784"/>
            <a:ext cx="8229600" cy="5256584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Commercial APIs (used in Exp 1, Exp 2):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GPT-4o-mini (OpenAI)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Claude 3 Haiku (Anthropic)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Open-source LLMs (used in Exp 1, Exp 2, Exp 3, all 4-bit quantized):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LLaMA-3.2-3B,  LLaMA-3.1-8B (Meta)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Qwen2.5-14B,  Qwen3-4B / 8B / 14B (Alibaba)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Phi-4-14B (Microsoft)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Range: 3B to 14B parameters, 16K to 200K context windows.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Infrastructure: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EuroHPC Leonardo (CINECA, Italy), NVIDIA A100 GPUs.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Evaluation Metrics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96752"/>
            <a:ext cx="8229600" cy="5472608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Standard MultiWOZ metrics (Tomiinek mwzeval):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JGA, Slot F1: belief state accuracy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Inform, Success: task completion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BLEU: response quality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Combined: (Inform + Success) / 2 + BLEU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Custom metrics (operational):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Hallucination Rate: response grounding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Policy Violation Rate: booking-rule compliance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Domain / Intent Precision: classification accuracy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Latency (s),  Cost ($): deployment cost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Standard metrics use the same protocol as published TOD work 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(hotel + restaurant only, not directly comparable to full-domain scores). 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Custom metrics reflect control and deployment realism.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1: Results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67544" y="1268760"/>
          <a:ext cx="7776864" cy="29667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22512"/>
                <a:gridCol w="648072"/>
                <a:gridCol w="864096"/>
                <a:gridCol w="864096"/>
                <a:gridCol w="1008112"/>
                <a:gridCol w="792088"/>
                <a:gridCol w="1224136"/>
                <a:gridCol w="853752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Model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JGA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SlotF1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Inform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Success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BLEU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Combined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Cost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Claude 3 Haiku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90.9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83.3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3.67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90.8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$21.03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83.0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82.3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72.0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3.69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80.8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25.8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74.3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66.1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59.7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4.46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67.4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GPT-4o-mini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24.8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71.2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58.6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3.08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$2.75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14.8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50.5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39.8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2.59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32.3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82.1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43.0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31.2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4.48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41.6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LLaMA-3.1-8B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5.2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14.0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2.30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10.4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67544" y="4509120"/>
            <a:ext cx="7920880" cy="141577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Arial" pitchFamily="34" charset="0"/>
                <a:cs typeface="Arial" pitchFamily="34" charset="0"/>
              </a:rPr>
              <a:t>Key findings:</a:t>
            </a:r>
          </a:p>
          <a:p>
            <a:endParaRPr lang="en-US" dirty="0" smtClean="0">
              <a:latin typeface="Arial" pitchFamily="34" charset="0"/>
              <a:cs typeface="Arial" pitchFamily="34" charset="0"/>
            </a:endParaRPr>
          </a:p>
          <a:p>
            <a:r>
              <a:rPr lang="en-US" dirty="0" smtClean="0">
                <a:latin typeface="Arial" pitchFamily="34" charset="0"/>
                <a:cs typeface="Arial" pitchFamily="34" charset="0"/>
              </a:rPr>
              <a:t>  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• Haiku leads, but at ~8× the cost of GPT-4o-mini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Qwen3-14B is the best open-source, close to API quality, free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LLaMA-3.1-8B fails entirely, Qwen3 scaling non-monotonic 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2: Results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67544" y="1268760"/>
          <a:ext cx="7920880" cy="3962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57423"/>
                <a:gridCol w="647227"/>
                <a:gridCol w="647227"/>
                <a:gridCol w="719141"/>
                <a:gridCol w="934883"/>
                <a:gridCol w="862969"/>
                <a:gridCol w="1150625"/>
                <a:gridCol w="801385"/>
              </a:tblGrid>
              <a:tr h="299110"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Config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JGA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SlotF1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Inform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Success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BLEU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Combined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Cost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Claude 3 Haiku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45.1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87.3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90.3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83.9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4.25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91.4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$2.10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Haiku → GPT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88.2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2.95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87.7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$1.53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GPT → Haiku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34.7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78.0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72.6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3.92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79.2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$0.78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GPT-4o-mini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35.7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79.0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72.0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3.14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78.6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$0.20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80.4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73.7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5.00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76.0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 → 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62.9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2.91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68.5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26.7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77.2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59.7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3.11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67.1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Phi-4-14B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23.8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69.7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61.3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43.5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2.83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55.2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 → Qwen3-8B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52.7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45.2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5.20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Qwen3-8B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34.2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51.6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42.5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5.10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52.2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LLaMA-3.1-8B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18.1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63.4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55.4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35.5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1.53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LLaMA-3.2-3B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42.5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28.5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14.5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1.26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22.8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67544" y="5301209"/>
            <a:ext cx="7920880" cy="18466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Arial" pitchFamily="34" charset="0"/>
                <a:cs typeface="Arial" pitchFamily="34" charset="0"/>
              </a:rPr>
              <a:t>Key findings:</a:t>
            </a:r>
          </a:p>
          <a:p>
            <a:endParaRPr lang="el-GR" sz="1600" dirty="0" smtClean="0">
              <a:latin typeface="Arial" pitchFamily="34" charset="0"/>
              <a:cs typeface="Arial" pitchFamily="34" charset="0"/>
            </a:endParaRPr>
          </a:p>
          <a:p>
            <a:r>
              <a:rPr lang="el-GR" sz="1600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l-GR" sz="1600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• 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API cost drops 10×: Haiku $21 → $2.10, GPT $2.75 → $0.20</a:t>
            </a:r>
            <a:endParaRPr lang="en-US" sz="1600" dirty="0" smtClean="0">
              <a:latin typeface="Arial" pitchFamily="34" charset="0"/>
              <a:cs typeface="Arial" pitchFamily="34" charset="0"/>
            </a:endParaRP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Decomposition helps weak models dramatically: LLaMA-3.1-8B, GPT-4o-mini.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But hurts strong open-source: Qwen3-14B, Phi-4-14B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DST is the bottleneck: Haiku → GPT vs GPT → Haiku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3: Results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67544" y="1268760"/>
          <a:ext cx="7848872" cy="2438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57423"/>
                <a:gridCol w="647227"/>
                <a:gridCol w="647227"/>
                <a:gridCol w="719141"/>
                <a:gridCol w="934883"/>
                <a:gridCol w="862969"/>
                <a:gridCol w="1150625"/>
                <a:gridCol w="729377"/>
              </a:tblGrid>
              <a:tr h="299110"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Config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JGA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SlotF1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Inform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Success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BLEU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Combined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Cost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88.9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66.7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8.74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70.8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89.5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61.3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55.4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12.26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70.6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 → 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46.9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89.2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66.7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8.71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70.6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Qwen3-8B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47.3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89.1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53.2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48.4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11.35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62.2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LLaMA-3.2-3B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43.5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87.8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39.8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9.39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LLaMA-3.1-8B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87.1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50.5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40.3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9.22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36.0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8.35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53.8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67544" y="4005064"/>
            <a:ext cx="7920880" cy="21236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Arial" pitchFamily="34" charset="0"/>
                <a:cs typeface="Arial" pitchFamily="34" charset="0"/>
              </a:rPr>
              <a:t>Key findings:</a:t>
            </a:r>
          </a:p>
          <a:p>
            <a:endParaRPr lang="en-US" sz="1600" dirty="0" smtClean="0">
              <a:latin typeface="Arial" pitchFamily="34" charset="0"/>
              <a:cs typeface="Arial" pitchFamily="34" charset="0"/>
            </a:endParaRP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Fine-tuning closes the DST gap with commercial APIs: Qwen3-14B FT reaches JGA 47.7, matching Haiku Exp 2 (45.1)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But Combined Score plateaus at ~71, 21 points behind Haiku (91.4). Bottleneck shifts from DST to ResponseGen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Phi-4-14B recovers from its Exp 2 drop</a:t>
            </a:r>
          </a:p>
          <a:p>
            <a:endParaRPr lang="en-US" sz="1600" dirty="0" smtClean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Cross-Experiment Synthesis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67544" y="1268760"/>
          <a:ext cx="5112568" cy="2743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57423"/>
                <a:gridCol w="647227"/>
                <a:gridCol w="647227"/>
                <a:gridCol w="719141"/>
                <a:gridCol w="941550"/>
              </a:tblGrid>
              <a:tr h="299110"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Config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Exp 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Exp 2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Best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Claude 3 Haiku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90.8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91.4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—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2</a:t>
                      </a:r>
                      <a:endParaRPr lang="en-US" sz="1400" b="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80.8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76.0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70.6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1</a:t>
                      </a:r>
                      <a:endParaRPr lang="en-US" sz="1400" b="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67.4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55.2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70.8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b="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GPT-4o-mini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78.6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—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2</a:t>
                      </a:r>
                      <a:endParaRPr lang="en-US" sz="1400" b="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47.7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67.1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53.8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41.6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52.2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62.2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LLaMA-3.1-8B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10.4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LLaMA-3.2-3B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—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22.8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395536" y="4221088"/>
            <a:ext cx="7920880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Arial" pitchFamily="34" charset="0"/>
                <a:cs typeface="Arial" pitchFamily="34" charset="0"/>
              </a:rPr>
              <a:t>Findings:</a:t>
            </a:r>
          </a:p>
          <a:p>
            <a:endParaRPr lang="en-US" sz="1600" dirty="0" smtClean="0">
              <a:latin typeface="Arial" pitchFamily="34" charset="0"/>
              <a:cs typeface="Arial" pitchFamily="34" charset="0"/>
            </a:endParaRP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No single architecture wins for every model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Three patterns: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 – Monotonic up: LLaMA family, Qwen3-8B (every step helps)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 – Monotonic down: Qwen3-14B (already grounded, hurt by each step)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 – Non-monotonic: Phi-4-14B, Qwen3-4B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Disciplined zero-shot models peak in Exp 1, while undisciplined ones gain from 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Exp 2, Exp 3</a:t>
            </a:r>
          </a:p>
          <a:p>
            <a:endParaRPr lang="en-US" sz="1600" dirty="0" smtClean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Key Findings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12776"/>
            <a:ext cx="8229600" cy="5328592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Question 1: Architectural decomposition.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Helps conditionally. Weak base models gain.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Already-strong open-source models lose ground.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DST is the dominant bottleneck.</a:t>
            </a: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Question 2: Role-specific LoRA fine-tuning.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Closes the DST gap with commercial APIs.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End-to-end Combined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stays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below APIs. </a:t>
            </a: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The principle: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Architecture × zero-shot discipline.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Disciplined zero-shot models peak in Exp 1.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Undisciplined ones gain from Exp 2 or Exp 3.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Limitations and Future Work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997152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Limitations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:</a:t>
            </a:r>
            <a:endParaRPr lang="el-GR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l-GR" sz="2000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l-GR" sz="2000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•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The architecture × discipline principle is empirical,</a:t>
            </a:r>
            <a:r>
              <a:rPr lang="el-GR" sz="2000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not theoretical</a:t>
            </a: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Domain scope: hotel + restaurant only,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not directly comparable to full-domain MultiWOZ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leaderboard</a:t>
            </a: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Future Work: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Extend to all 5 MultiWOZ domains, or specialize to a single domain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Explore advanced prompting (knowledge generation, self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consistency, retrieval-augmented few-shot examples)</a:t>
            </a: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DPO post-training as Exp 4: preference-based on top of LoRA fine-tuning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Workflow-graph orchestration (e.g., LangGraph) with tool calling for booking flows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72307"/>
            <a:ext cx="8229600" cy="4713387"/>
          </a:xfrm>
        </p:spPr>
        <p:txBody>
          <a:bodyPr>
            <a:normAutofit/>
          </a:bodyPr>
          <a:lstStyle/>
          <a:p>
            <a:pPr algn="ctr">
              <a:buNone/>
            </a:pPr>
            <a:r>
              <a:rPr lang="en-US" sz="8000" b="1" dirty="0" smtClean="0">
                <a:latin typeface="Arial" pitchFamily="34" charset="0"/>
                <a:cs typeface="Arial" pitchFamily="34" charset="0"/>
              </a:rPr>
              <a:t>Thank you</a:t>
            </a:r>
            <a:endParaRPr lang="en-US" sz="8000" b="1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1554</TotalTime>
  <Words>1757</Words>
  <Application>Microsoft Office PowerPoint</Application>
  <PresentationFormat>On-screen Show (4:3)</PresentationFormat>
  <Paragraphs>471</Paragraphs>
  <Slides>18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19" baseType="lpstr">
      <vt:lpstr>Office Theme</vt:lpstr>
      <vt:lpstr>NATIONAL AND KAPODISTRIAN UNIVERSITY OF ATHENS  DEPARTMENT OF INFORMATICS AND TELECOMMUNICATIONS</vt:lpstr>
      <vt:lpstr>Motivation</vt:lpstr>
      <vt:lpstr>Research Questions</vt:lpstr>
      <vt:lpstr>Dataset: MultiWOZ 2.2</vt:lpstr>
      <vt:lpstr>Positioning This Work</vt:lpstr>
      <vt:lpstr>Experimental Design</vt:lpstr>
      <vt:lpstr>Exp 1: Single-LLM Baseline</vt:lpstr>
      <vt:lpstr>Exp 2: Zero-Shot Modular Pipeline</vt:lpstr>
      <vt:lpstr>Exp 3: Fine-Tuned Modular Pipeline</vt:lpstr>
      <vt:lpstr>Models and Infrastructure</vt:lpstr>
      <vt:lpstr>Evaluation Metrics</vt:lpstr>
      <vt:lpstr>Exp 1: Results</vt:lpstr>
      <vt:lpstr>Exp 2: Results</vt:lpstr>
      <vt:lpstr>Exp 3: Results</vt:lpstr>
      <vt:lpstr>Cross-Experiment Synthesis</vt:lpstr>
      <vt:lpstr>Key Findings</vt:lpstr>
      <vt:lpstr>Limitations and Future Work</vt:lpstr>
      <vt:lpstr>Slide 18</vt:lpstr>
    </vt:vector>
  </TitlesOfParts>
  <Company>Grizli777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Giorgos Xidias</dc:creator>
  <cp:lastModifiedBy>Giorgos Xidias</cp:lastModifiedBy>
  <cp:revision>133</cp:revision>
  <dcterms:created xsi:type="dcterms:W3CDTF">2026-05-18T05:31:02Z</dcterms:created>
  <dcterms:modified xsi:type="dcterms:W3CDTF">2026-05-21T08:57:08Z</dcterms:modified>
</cp:coreProperties>
</file>