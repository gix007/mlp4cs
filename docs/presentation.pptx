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57" r:id="rId9"/>
    <p:sldId id="258" r:id="rId10"/>
    <p:sldId id="259" r:id="rId11"/>
    <p:sldId id="266" r:id="rId12"/>
    <p:sldId id="268" r:id="rId13"/>
    <p:sldId id="274" r:id="rId14"/>
    <p:sldId id="275" r:id="rId15"/>
    <p:sldId id="276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63" y="-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8748-2515-4448-AFB0-4E0BAD67A43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E0AA0-B83C-4728-BF00-CBBF3D7B9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936104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NATIONAL AND KAPODISTRIAN UNIVERSITY OF ATHENS</a:t>
            </a:r>
            <a:br>
              <a:rPr lang="en-US" sz="1800" b="1" dirty="0" smtClean="0">
                <a:latin typeface="Arial" pitchFamily="34" charset="0"/>
                <a:cs typeface="Arial" pitchFamily="34" charset="0"/>
              </a:rPr>
            </a:b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DEPARTMENT OF INFORMATICS AND TELECOMMUNICATIONS</a:t>
            </a:r>
            <a:endParaRPr 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92" y="5301208"/>
            <a:ext cx="6944816" cy="108012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Supervisor: Kosmas Kritsis, Scientific Associate, ILSP, Athena Research Center</a:t>
            </a:r>
          </a:p>
          <a:p>
            <a:pPr algn="l"/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Examiners: Vasilis Katsouros, Director of ILSP, Athena Research Center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       Aggelos Pikrakis, Associate Professor, University of Piraeus</a:t>
            </a:r>
          </a:p>
          <a:p>
            <a:pPr algn="l"/>
            <a:endParaRPr lang="en-US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Athens, 2026</a:t>
            </a:r>
            <a:endParaRPr lang="en-US" sz="15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520" y="2348880"/>
            <a:ext cx="864096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MSc Thesis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Modular LLM Pipeline for </a:t>
            </a:r>
          </a:p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Task-Oriented Customer Service Dialogue</a:t>
            </a:r>
          </a:p>
          <a:p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Georgios Xydias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1" descr="LOGO_UO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3303" y="0"/>
            <a:ext cx="1037395" cy="134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Motivation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8965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Customer service in hotels and restaurants is: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High-volume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Repetitive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Rule-bound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This makes it a natural target for AI automation, since today the work is handled by human staff at significant cost in labor, errors, and no 24/7 availability.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Modern LLMs enable fluent multi-turn conversation, but cost, hallucination, and control remain open challenges.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Goal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 investigate the architectural choices that lead to a customer-service dialogue system that is reliable, controllable and affordable.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Research Questions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Question 1: Does architectural decomposition into specialized LLM modules (DST + ResponseGen) improve dialogue performance over a single-LLM baseline?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Question 2: Does role-specific LoRA fine-tuning of each module yield further improvement on top of decomposition?</a:t>
            </a:r>
          </a:p>
          <a:p>
            <a:pPr marL="0" indent="0"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Both questions are evaluated across commercial API models (GPT-4o-mini, Claude 3 Haiku) and open-source models (LLaMA, Qwen, Phi).</a:t>
            </a:r>
          </a:p>
          <a:p>
            <a:pPr marL="0" indent="0"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Dataset: MultiWOZ 2.2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 schema-guided benchmark for task-oriented dialogue.</a:t>
            </a:r>
          </a:p>
          <a:p>
            <a:pPr marL="0" indent="0"/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10,437 multi-turn dialogues across 7 service domains</a:t>
            </a:r>
          </a:p>
          <a:p>
            <a:pPr marL="0" indent="0"/>
            <a:r>
              <a:rPr lang="en-US" sz="2000" dirty="0" smtClean="0">
                <a:latin typeface="Arial" pitchFamily="34" charset="0"/>
                <a:cs typeface="Arial" pitchFamily="34" charset="0"/>
              </a:rPr>
              <a:t> Per-turn annotations: belief state (intent + slot values), dialog acts</a:t>
            </a:r>
          </a:p>
          <a:p>
            <a:pPr marL="0" indent="0"/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Per-domain database with real entities for grounded recommendations</a:t>
            </a:r>
          </a:p>
          <a:p>
            <a:pPr marL="0" indent="0"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This thesis evaluates on hotel + restaurant only, the two most frequent and information-rich domains, matching the hospitality customer-service scope.</a:t>
            </a:r>
          </a:p>
          <a:p>
            <a:pPr marL="0" indent="0"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Filtered subset: 2,850 train, 171 dev and 186 test dialogues.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Positioning This Work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Two recurring strategies across eras: information enrichment + task decomposition. In LLMs: parameter-efficient fine-tuning.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Three trends shape modern LLM-based TOD research: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Information enrichment: </a:t>
            </a:r>
          </a:p>
          <a:p>
            <a:pPr lvl="1"/>
            <a:r>
              <a:rPr lang="en-US" sz="1600" dirty="0" smtClean="0">
                <a:latin typeface="Arial" pitchFamily="34" charset="0"/>
                <a:cs typeface="Arial" pitchFamily="34" charset="0"/>
              </a:rPr>
              <a:t>Schema-guided prompts (SGP-TOD 2023)</a:t>
            </a:r>
          </a:p>
          <a:p>
            <a:pPr lvl="1"/>
            <a:r>
              <a:rPr lang="en-US" sz="1600" dirty="0" smtClean="0">
                <a:latin typeface="Arial" pitchFamily="34" charset="0"/>
                <a:cs typeface="Arial" pitchFamily="34" charset="0"/>
              </a:rPr>
              <a:t>Examples from training set (Hudeček &amp; Dušek, few-shot variant)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Task Decomposition: modular pipelines / multi-agent LLMs 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  (Hudeček &amp; Dušek 2023, DARD 2024, DIMF 2025)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PEFT: LoRA fine-tuning (Spec-TOD 2025)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This work sits at the intersection with controlled comparisons isolating each variable: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architectural decomposition and role-specific LoRA fine-tuning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Experimental Design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Exp 1.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Single-LLM Baseline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        One LLM handles DST, DB selection, and response generation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        in a single prompt.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Exp 2. Zero-Shot Modular Pipeline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        Two specialized LLMs: DST extracts the belief state, a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        deterministic DB lookup runs, ResponseGen writes the reply.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Exp 3. Fine-Tuned Modular Pipeline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        Same architecture as Exp 2, but each LLM module is replaced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        by a LoRA fine-tuned adapter for its role.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Progression: monolithic → modular → modular + fine-tuned.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Exp 1: Single-LLM Baseline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Architecture (one LLM call per turn):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Dialogue History + DB →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LLM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→ lexicalize → Response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The LLM produces in a single prompt (including Policy):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Belief state (domain, intent, slot values)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Entity selection from the database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Delexicalized response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Post-LLM steps (rule-based):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lexicalize: fills placeholders with real entity values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Defines the reference point for Exp 2 and Exp 3.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Exp 2: Zero-Shot Modular Pipeline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Architecture (two LLM calls per turn):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Dialogue History →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DST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→ Policy → DB →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ResponseGen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 → supervisor → lexicalize → Response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Two LLM calls: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DST: extracts belief state (domain, intent, slot values)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ResponseGen: writes a delexicalized response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Deterministic steps (no LLM):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Policy: checks required booking slots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DB query: retrieves matching entities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supervisor: validates response, retries up to 2 times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lexicalize: fills placeholders with real entity values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Decomposes Exp 1’s task into focused, role-specialized calls.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Exp 3: Fine-Tuned Modular Pipeline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Architecture (Exp 2 + LoRA fine-tuning):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Dialogue History →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DST(LoRA)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→ Policy → DB →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ResponseGen(LoRA)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→ supervisor → lexicalize → Response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Fine-tuning setup (QLoRA via Unsloth):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Base model: open-source LLM, 4-bit quantized (NF4)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LoRA adapter: applied to attention + MLP layers (rank 16)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Trainable parameters: ~0.75% of total weights (e.g., 24M of 3.2B for LLaMA-3.2)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Two adapters per config: one DST, one ResponseGen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Train on MultiWOZ train split, validate with early stopping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Tests whether role-specific fine-tuning improves over Exp 2.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Models and Infrastructure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085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Commercial APIs (used in Exp 1, Exp 2):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GPT-4o-mini (OpenAI)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Claude 3 Haiku (Anthropic)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Open-source LLMs (used in Exp 1, Exp 2, Exp 3):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LLaMA-3.2-3B,  LLaMA-3.1-8B (Meta)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Qwen3-4B / 8B / 14B (Alibaba)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Phi-4-14B (Microsoft)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Range: 3B to 14B parameters, 16K to 200K context windows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Infrastructure: EuroHPC Leonardo (CINECA, Italy), NVIDIA A100 GPU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Evaluation Metrics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80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Standard MultiWOZ metrics: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JGA, Slot F1: belief state accuracy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Inform, Success: task completion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BLEU: response quality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Combined: (Inform + Success) / 2 + BLEU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Custom metrics (operational): Hallucination Rate, Policy Violation Rate, Domain / Intent Precision, Latency (s),  Cost ($).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Standard metrics use the same protocol as published TOD work 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(hotel + restaurant only, not directly comparable to full-domain scores). 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Custom metrics reflect control and deployment realism.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Exp 1: Results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7544" y="1268760"/>
          <a:ext cx="777686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2512"/>
                <a:gridCol w="648072"/>
                <a:gridCol w="864096"/>
                <a:gridCol w="864096"/>
                <a:gridCol w="1008112"/>
                <a:gridCol w="792088"/>
                <a:gridCol w="1224136"/>
                <a:gridCol w="8537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Model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JGA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SlotF1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Inform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Success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BLEU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Combined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Cost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Claude 3 Haiku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44.8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88.3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90.9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83.3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3.67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90.8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$21.03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Qwen3-14B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33.3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83.0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82.3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72.0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3.69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80.8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Phi-4-14B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25.8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74.3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66.1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59.7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4.46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67.4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GPT-4o-mini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24.8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71.2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58.6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44.1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3.08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54.4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$2.75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Qwen3-4B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14.8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54.7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50.5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39.8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2.59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47.7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Qwen3-8B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32.3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82.1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43.0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31.2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4.48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41.6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LLaMA-3.1-8B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5.2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33.1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14.0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2.30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10.4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67544" y="4509120"/>
            <a:ext cx="792088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Key findings: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• Haiku leads, but at very high cost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Qwen3-14B is the best open-source, close to API quality, free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LLaMA-3.1-8B fails entirely, Qwen3 scaling non-monotonic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Exp 2: Results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7544" y="1268760"/>
          <a:ext cx="7920880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7423"/>
                <a:gridCol w="647227"/>
                <a:gridCol w="647227"/>
                <a:gridCol w="719141"/>
                <a:gridCol w="934883"/>
                <a:gridCol w="862969"/>
                <a:gridCol w="1150625"/>
                <a:gridCol w="801385"/>
              </a:tblGrid>
              <a:tr h="29911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Config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JGA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SlotF1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Inform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Success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BLEU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Combined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Cost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Claude 3 Haiku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45.1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87.3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90.3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83.9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4.25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91.4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$2.10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Haiku → GPT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44.6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87.0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88.2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81.2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2.95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87.7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$1.53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GPT → Haiku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34.7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81.9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78.0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72.6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3.92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79.2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$0.78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GPT-4o-mini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35.7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81.7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79.0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72.0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3.14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78.6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$0.20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Qwen3-14B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33.4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80.4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73.7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68.3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5.00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76.0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Qwen3-14B → Phi-4-14B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33.7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81.1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68.3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62.9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2.91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68.5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Qwen3-4B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26.7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77.2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68.3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59.7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3.11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67.1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Phi-4-14B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23.8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69.7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61.3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43.5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2.83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55.2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Qwen3-14B → Qwen3-8B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33.7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81.6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52.7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45.2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5.20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54.2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Qwen3-8B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34.2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81.3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51.6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42.5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5.10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52.2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LLaMA-3.1-8B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18.1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63.4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55.4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35.5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1.53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47.0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LLaMA-3.2-3B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42.5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28.5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14.5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1.26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22.8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7544" y="5301209"/>
            <a:ext cx="792088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Key findings:</a:t>
            </a:r>
          </a:p>
          <a:p>
            <a:endParaRPr lang="el-GR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l-GR" sz="16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• API cost drops 10×: Haiku $21 → $2.10, GPT $2.75 → $0.20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Decomposition helps weak models dramatically: LLaMA-3.1-8B, GPT-4o-mini,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but hurts strong open-source: Qwen3-14B, Phi-4-14B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DST is the bottleneck: Haiku → GPT vs GPT → Haiku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Exp 3: Results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7544" y="1268760"/>
          <a:ext cx="7848872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7423"/>
                <a:gridCol w="647227"/>
                <a:gridCol w="647227"/>
                <a:gridCol w="719141"/>
                <a:gridCol w="934883"/>
                <a:gridCol w="862969"/>
                <a:gridCol w="1150625"/>
                <a:gridCol w="729377"/>
              </a:tblGrid>
              <a:tr h="29911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Config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JGA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SlotF1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Inform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Success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BLEU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Combined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Cost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Phi-4-14B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47.0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88.9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66.7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57.5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8.74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70.8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Qwen3-14B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47.7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89.5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61.3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55.4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12.26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70.6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Qwen3-14B → Phi-4-14B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46.9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89.2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66.7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57.0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8.71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70.6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Qwen3-8B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47.3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89.1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53.2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48.4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11.35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62.2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LLaMA-3.2-3B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43.5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87.8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57.0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39.8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9.39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57.8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LLaMA-3.1-8B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44.0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87.1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50.5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40.3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9.22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54.6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Qwen3-4B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44.8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88.3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54.8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36.0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8.35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53.8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free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7544" y="4005064"/>
            <a:ext cx="792088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Key findings: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Fine-tuning closes the DST gap with commercial APIs: Qwen3-14B FT reaches 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JGA 47.7, matching Haiku Exp 2 (45.1)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But Combined Score stays at ~71, 21 points behind Haiku (91.4). Bottleneck 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shifts from DST to ResponseGen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Phi-4-14B recovers from its Exp 2 drop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Cross-Experiment Synthesis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7544" y="1268760"/>
          <a:ext cx="51125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7423"/>
                <a:gridCol w="647227"/>
                <a:gridCol w="647227"/>
                <a:gridCol w="719141"/>
                <a:gridCol w="941550"/>
              </a:tblGrid>
              <a:tr h="29911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Config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Exp 1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Exp 2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Exp 3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Best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Claude 3 Haiku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90.8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91.4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—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2</a:t>
                      </a:r>
                      <a:endParaRPr lang="en-US" sz="14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Qwen3-14B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80.8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76.0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70.6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1</a:t>
                      </a:r>
                      <a:endParaRPr lang="en-US" sz="14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Phi-4-14B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67.4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55.2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70.8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3</a:t>
                      </a:r>
                      <a:endParaRPr lang="en-US" sz="14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GPT-4o-mini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54.4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78.6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—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2</a:t>
                      </a:r>
                      <a:endParaRPr lang="en-US" sz="14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Qwen3-4B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47.7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67.1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53.8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Qwen3-8B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41.6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52.2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itchFamily="34" charset="0"/>
                          <a:cs typeface="Arial" pitchFamily="34" charset="0"/>
                        </a:rPr>
                        <a:t>62.2</a:t>
                      </a:r>
                      <a:endParaRPr lang="en-US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LLaMA-3.1-8B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10.4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47.0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54.6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  <a:tr h="299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LLaMA-3.2-3B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—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22.8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57.8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Arial" pitchFamily="34" charset="0"/>
                          <a:cs typeface="Arial" pitchFamily="34" charset="0"/>
                        </a:rPr>
                        <a:t>Exp 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45720" marR="45720"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95536" y="4221088"/>
            <a:ext cx="792088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Findings: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No single architecture wins for every model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• Three patterns: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 – Monotonic up: LLaMA family, Qwen3-8B (every step helps)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 – Monotonic down: Qwen3-14B (already grounded, hurt by each step)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 – Non-monotonic: Phi-4-14B, Qwen3-4B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Key Findings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Question 1: Architectural decomposition. 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Helps conditionally. Weak base models gain. 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Already-strong open-source models lose ground. 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DST is the dominant bottleneck.</a:t>
            </a:r>
          </a:p>
          <a:p>
            <a:pPr marL="0" indent="0"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Question 2: Role-specific LoRA fine-tuning.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Closes the DST gap with commercial APIs. 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End-to-end Combined stays below APIs. </a:t>
            </a:r>
          </a:p>
          <a:p>
            <a:pPr marL="0" indent="0"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The principle: 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Architecture depends on baseline.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Disciplined models peak in Exp 1.</a:t>
            </a:r>
          </a:p>
          <a:p>
            <a:pPr marL="0" indent="0"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Undisciplined ones gain from Exp 2 or Exp 3.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Limitations and Future Work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Limitations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• Results sensitive to implementation choices (prompts, delex protocol, fine-tuning hyperparameters)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Domain scope: hotel + restaurant only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not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directly comparable to full-domain MultiWOZ leaderboard</a:t>
            </a: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Future Work: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Extend to all MultiWOZ domains, or specialize to a single domain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Explore prompting alternatives, e.g., retrieval-augmented few-shot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DPO post-training as Exp 4: preference-based on top of LoRA fine-tuning</a:t>
            </a: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• Workflow-graph orchestration (e.g., LangGraph) with tool calling for booking flows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2307"/>
            <a:ext cx="8229600" cy="4713387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8000" b="1" dirty="0" smtClean="0">
                <a:latin typeface="Arial" pitchFamily="34" charset="0"/>
                <a:cs typeface="Arial" pitchFamily="34" charset="0"/>
              </a:rPr>
              <a:t>Thank you</a:t>
            </a:r>
            <a:endParaRPr lang="en-US" sz="80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2393</TotalTime>
  <Words>1696</Words>
  <Application>Microsoft Office PowerPoint</Application>
  <PresentationFormat>On-screen Show (4:3)</PresentationFormat>
  <Paragraphs>465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NATIONAL AND KAPODISTRIAN UNIVERSITY OF ATHENS  DEPARTMENT OF INFORMATICS AND TELECOMMUNICATIONS</vt:lpstr>
      <vt:lpstr>Motivation</vt:lpstr>
      <vt:lpstr>Research Questions</vt:lpstr>
      <vt:lpstr>Dataset: MultiWOZ 2.2</vt:lpstr>
      <vt:lpstr>Positioning This Work</vt:lpstr>
      <vt:lpstr>Experimental Design</vt:lpstr>
      <vt:lpstr>Exp 1: Single-LLM Baseline</vt:lpstr>
      <vt:lpstr>Exp 2: Zero-Shot Modular Pipeline</vt:lpstr>
      <vt:lpstr>Exp 3: Fine-Tuned Modular Pipeline</vt:lpstr>
      <vt:lpstr>Models and Infrastructure</vt:lpstr>
      <vt:lpstr>Evaluation Metrics</vt:lpstr>
      <vt:lpstr>Exp 1: Results</vt:lpstr>
      <vt:lpstr>Exp 2: Results</vt:lpstr>
      <vt:lpstr>Exp 3: Results</vt:lpstr>
      <vt:lpstr>Cross-Experiment Synthesis</vt:lpstr>
      <vt:lpstr>Key Findings</vt:lpstr>
      <vt:lpstr>Limitations and Future Work</vt:lpstr>
      <vt:lpstr>Slide 18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Giorgos Xidias</dc:creator>
  <cp:lastModifiedBy>Giorgos Xidias</cp:lastModifiedBy>
  <cp:revision>159</cp:revision>
  <dcterms:created xsi:type="dcterms:W3CDTF">2026-05-18T05:31:02Z</dcterms:created>
  <dcterms:modified xsi:type="dcterms:W3CDTF">2026-06-07T05:19:57Z</dcterms:modified>
</cp:coreProperties>
</file>