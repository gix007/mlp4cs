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2" r:id="rId5"/>
    <p:sldId id="263" r:id="rId6"/>
    <p:sldId id="264" r:id="rId7"/>
    <p:sldId id="265" r:id="rId8"/>
    <p:sldId id="257" r:id="rId9"/>
    <p:sldId id="258" r:id="rId10"/>
    <p:sldId id="259" r:id="rId11"/>
    <p:sldId id="266" r:id="rId12"/>
    <p:sldId id="268" r:id="rId13"/>
    <p:sldId id="274" r:id="rId14"/>
    <p:sldId id="275" r:id="rId15"/>
    <p:sldId id="276" r:id="rId16"/>
    <p:sldId id="270" r:id="rId17"/>
    <p:sldId id="271" r:id="rId18"/>
    <p:sldId id="272" r:id="rId19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72" d="100"/>
          <a:sy n="72" d="100"/>
        </p:scale>
        <p:origin x="-66" y="-8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91D8748-2515-4448-AFB0-4E0BAD67A439}" type="datetimeFigureOut">
              <a:rPr lang="en-US" smtClean="0"/>
              <a:pPr/>
              <a:t>6/16/2026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64E0AA0-B83C-4728-BF00-CBBF3D7B9EE5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268760"/>
            <a:ext cx="7772400" cy="936104"/>
          </a:xfrm>
        </p:spPr>
        <p:txBody>
          <a:bodyPr>
            <a:normAutofit/>
          </a:bodyPr>
          <a:lstStyle/>
          <a:p>
            <a:r>
              <a:rPr lang="en-US" sz="1800" b="1" dirty="0" smtClean="0">
                <a:latin typeface="Arial" pitchFamily="34" charset="0"/>
                <a:cs typeface="Arial" pitchFamily="34" charset="0"/>
              </a:rPr>
              <a:t>NATIONAL AND KAPODISTRIAN UNIVERSITY OF ATHENS</a:t>
            </a:r>
            <a:br>
              <a:rPr lang="en-US" sz="1800" b="1" dirty="0" smtClean="0">
                <a:latin typeface="Arial" pitchFamily="34" charset="0"/>
                <a:cs typeface="Arial" pitchFamily="34" charset="0"/>
              </a:rPr>
            </a:br>
            <a:r>
              <a:rPr lang="en-US" sz="1800" b="1" dirty="0" smtClean="0">
                <a:latin typeface="Arial" pitchFamily="34" charset="0"/>
                <a:cs typeface="Arial" pitchFamily="34" charset="0"/>
              </a:rPr>
              <a:t> DEPARTMENT OF INFORMATICS AND TELECOMMUNICATIONS</a:t>
            </a:r>
            <a:endParaRPr lang="en-US" sz="18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99592" y="5301208"/>
            <a:ext cx="6944816" cy="1080120"/>
          </a:xfrm>
        </p:spPr>
        <p:txBody>
          <a:bodyPr>
            <a:noAutofit/>
          </a:bodyPr>
          <a:lstStyle/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Supervisor: Kosmas Kritsis, Research Associate, ILSP, ATHENA R.C.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Examiners: Aggelos Pikrakis, Associate Professor, University of Piraeus </a:t>
            </a:r>
          </a:p>
          <a:p>
            <a:pPr algn="l"/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 Georgios Paraskevopoulos, Researcher C, ILSP, ATHENA R.C.</a:t>
            </a:r>
          </a:p>
          <a:p>
            <a:pPr algn="l"/>
            <a:r>
              <a:rPr lang="en-US" sz="1200" dirty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</a:t>
            </a:r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                  </a:t>
            </a:r>
          </a:p>
          <a:p>
            <a:pPr algn="l"/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  <a:p>
            <a:r>
              <a:rPr lang="en-US" sz="1200" dirty="0" smtClean="0">
                <a:solidFill>
                  <a:schemeClr val="tx1"/>
                </a:solidFill>
                <a:latin typeface="Arial" pitchFamily="34" charset="0"/>
                <a:cs typeface="Arial" pitchFamily="34" charset="0"/>
              </a:rPr>
              <a:t>Athens, 2026</a:t>
            </a:r>
            <a:endParaRPr lang="en-US" sz="1200" dirty="0">
              <a:solidFill>
                <a:schemeClr val="tx1"/>
              </a:solidFill>
              <a:latin typeface="Arial" pitchFamily="34" charset="0"/>
              <a:cs typeface="Arial" pitchFamily="34" charset="0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251520" y="2348880"/>
            <a:ext cx="8640960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1600" b="1" dirty="0" smtClean="0">
                <a:latin typeface="Arial" pitchFamily="34" charset="0"/>
                <a:cs typeface="Arial" pitchFamily="34" charset="0"/>
              </a:rPr>
              <a:t>MSc Thesis</a:t>
            </a:r>
          </a:p>
          <a:p>
            <a:endParaRPr lang="en-US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Modular LLM Pipeline for </a:t>
            </a:r>
          </a:p>
          <a:p>
            <a:pPr algn="ctr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Task-Oriented Customer Service Dialogue</a:t>
            </a:r>
          </a:p>
          <a:p>
            <a:endParaRPr lang="en-US" sz="3200" b="1" dirty="0">
              <a:latin typeface="Arial" pitchFamily="34" charset="0"/>
              <a:cs typeface="Arial" pitchFamily="34" charset="0"/>
            </a:endParaRPr>
          </a:p>
          <a:p>
            <a:pPr algn="ctr"/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Georgios Xydias</a:t>
            </a:r>
            <a:endParaRPr lang="en-US" sz="2000" b="1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1026" name="Picture 1" descr="LOGO_UOA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053303" y="0"/>
            <a:ext cx="1037395" cy="134076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Motivation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7544" y="1412776"/>
            <a:ext cx="8229600" cy="51125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Customer service in hotels and restaurants is: 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High-volume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Repetitive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Rule-bound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makes it a natural target for AI automation, since today the work is handled by human staff at significant cost in labor and errors, with no 24/7 availability.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Modern LLMs enable fluent multi-turn conversation, but cost, hallucination, and control remain open challenges.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Goal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: investigate the architectural choices that lead to a TOD system for customer service that is reliable, controllable and affordable.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Research Questions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Does architectural decomposition into specialized LLM modules (DST + ResponseGen) improve dialogue performance over a single-LLM baseline?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Does role-specific LoRA fine-tuning of each module yield further improvement on top of decomposition?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Dataset: MultiWOZ 2.2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 schema-guided benchmark for task-oriented dialogue.</a:t>
            </a: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10,437 multi-turn dialogues across 7 service domains</a:t>
            </a:r>
          </a:p>
          <a:p>
            <a:pPr marL="0" indent="0"/>
            <a:r>
              <a:rPr lang="en-US" sz="2000" dirty="0" smtClean="0">
                <a:latin typeface="Arial" pitchFamily="34" charset="0"/>
                <a:cs typeface="Arial" pitchFamily="34" charset="0"/>
              </a:rPr>
              <a:t> Per-turn annotations: belief state (intent + slot values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), dialog acts</a:t>
            </a: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/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Per-domain database with real entities for grounded   recommendations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thesis evaluates on hotel + restaurant only, the two most frequent and information-rich domains, matching the hospitality customer-service scope.</a:t>
            </a:r>
          </a:p>
          <a:p>
            <a:pPr marL="0" indent="0"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fr-FR" sz="2000" dirty="0" smtClean="0">
                <a:latin typeface="Arial" pitchFamily="34" charset="0"/>
                <a:cs typeface="Arial" pitchFamily="34" charset="0"/>
              </a:rPr>
              <a:t>Filtered subset: 2,850 train, 171 dev and 186 test dialogues.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Positioning This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recurring strategies across eras: information enrichment + task decomposition. In LLMs: parameter-efficient fine-tuning.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Three trends shape modern LLM-based TOD research: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Information enrichment: 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Schema-guided prompts (SGP-TOD 2023)</a:t>
            </a:r>
          </a:p>
          <a:p>
            <a:pPr lvl="1"/>
            <a:r>
              <a:rPr lang="en-US" sz="1600" dirty="0" smtClean="0">
                <a:latin typeface="Arial" pitchFamily="34" charset="0"/>
                <a:cs typeface="Arial" pitchFamily="34" charset="0"/>
              </a:rPr>
              <a:t>Examples from training set (Hudeček &amp; Dušek, few-shot variant)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Task Decomposition: modular pipelines / multi-agent LLMs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(Hudeček &amp; Dušek 2023, DARD 2024, DIMF 2025)</a:t>
            </a:r>
          </a:p>
          <a:p>
            <a:r>
              <a:rPr lang="en-US" sz="2000" dirty="0" smtClean="0">
                <a:latin typeface="Arial" pitchFamily="34" charset="0"/>
                <a:cs typeface="Arial" pitchFamily="34" charset="0"/>
              </a:rPr>
              <a:t>PEFT: LoRA fine-tuning (Spec-TOD 2025)</a:t>
            </a:r>
          </a:p>
          <a:p>
            <a:endParaRPr lang="en-US" sz="2000" dirty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This work sits at the intersection with controlled comparisons isolating each variable:</a:t>
            </a:r>
            <a:r>
              <a:rPr lang="en-US" sz="20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architectural decomposition and role-specific LoRA fine-tuning</a:t>
            </a:r>
          </a:p>
          <a:p>
            <a:pPr>
              <a:buNone/>
            </a:pP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Experimental Design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4116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1.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Single-LLM Baseline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One LLM handles DST, DB selection, and response generation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in a single prompt.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2. Zero-Shot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Two specialized LLMs: DST extracts the belief state, a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deterministic DB lookup runs, ResponseGen writes the reply.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Exp 3. Fine-Tuned Modular Pipeline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Same architecture as Exp 2, but each LLM module is replaced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         by a LoRA fine-tuned adapter for its role.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Progression: monolithic → modular → modular + fine-tuned.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Single-LLM Baseline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5256584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(one LLM call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Dialogue History +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LLM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The LLM produces in a single prompt (including Policy):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Entity selection from the database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Post-LLM steps (rule-based):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Defines the reference point for Exp 2 and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Zero-Shot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268760"/>
            <a:ext cx="8229600" cy="5472608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(two LLM calls per turn):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Two LLM calls: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DST: extracts belief state (domain, intent, slot values)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ResponseGen: writes a delexicalized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Deterministic steps (no LLM):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Policy: checks required booking slots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DB query: retrieves matching entities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supervisor: validates response, retries up to 2 times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lexicalize: fills placeholders with real entity values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Decomposes Exp 1’s task into focused, role-specialized calls.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Fine-Tuned Modular Pipeline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7091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Architecture (Exp 2 + LoRA fine-tuning):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Dialogue History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DST(LoRA)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 → Policy → DB → </a:t>
            </a:r>
            <a:r>
              <a:rPr lang="en-US" sz="2000" b="1" dirty="0" smtClean="0">
                <a:latin typeface="Arial" pitchFamily="34" charset="0"/>
                <a:cs typeface="Arial" pitchFamily="34" charset="0"/>
              </a:rPr>
              <a:t>ResponseGen(LoRA)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→ supervisor → lexicalize → Response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Fine-tuning setup (QLoRA via Unsloth):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Base model: open-source LLM, 4-bit quantized (NF4)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LoRA adapter: applied to attention + MLP layers (rank 16)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Trainable parameters: ~0.75% of total weights (e.g., 24M of 3.2B for LLaMA-3.2)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Two adapters per config: one DST, one ResponseGen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Train on MultiWOZ train split, validate with early stopping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Tests whether role-specific fine-tuning improves over Exp 2.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Models and Infrastructure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28800"/>
            <a:ext cx="8229600" cy="460851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Commercial APIs (used in Exp 1, Exp 2):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GPT-4o-mini (OpenAI)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Claude 3 Haiku (Anthropic)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Open-source LLMs (used in Exp 1, Exp 2, Exp 3):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LLaMA-3.2-3B,  LLaMA-3.1-8B (Meta)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Qwen3-4B / 8B / 14B (Alibaba)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Phi-4-14B (Microsoft)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Range: 3B to 14B parameters, 16K to 200K context windows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Infrastructure: EuroHPC Leonardo (CINECA, Italy), NVIDIA A100 GPU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Evaluation Metrics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0808"/>
            <a:ext cx="8229600" cy="4680520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MultiWOZ metrics: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JGA, Slot F1: belief state accuracy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Inform, Success: task completion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BLEU: response quality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Combined: (Inform + Success) / 2 + BLEU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(operational): Hallucination Rate, Policy Violation Rate, Domain / Intent Precision, Latency (s</a:t>
            </a:r>
            <a:r>
              <a:rPr lang="en-US" sz="2000" smtClean="0">
                <a:latin typeface="Arial" pitchFamily="34" charset="0"/>
                <a:cs typeface="Arial" pitchFamily="34" charset="0"/>
              </a:rPr>
              <a:t>), </a:t>
            </a:r>
            <a:r>
              <a:rPr lang="en-US" sz="2000" smtClean="0">
                <a:latin typeface="Arial" pitchFamily="34" charset="0"/>
                <a:cs typeface="Arial" pitchFamily="34" charset="0"/>
              </a:rPr>
              <a:t>API Cost </a:t>
            </a:r>
            <a:r>
              <a:rPr lang="en-US" sz="2000" dirty="0" smtClean="0">
                <a:latin typeface="Arial" pitchFamily="34" charset="0"/>
                <a:cs typeface="Arial" pitchFamily="34" charset="0"/>
              </a:rPr>
              <a:t>($).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Standard metrics use the same protocol as published TOD work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(hotel + restaurant only, not directly comparable to full-domain scores). 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Custom metrics reflect control and deployment realism.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1: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6923112" cy="29667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22512"/>
                <a:gridCol w="648072"/>
                <a:gridCol w="864096"/>
                <a:gridCol w="864096"/>
                <a:gridCol w="1008112"/>
                <a:gridCol w="792088"/>
                <a:gridCol w="1224136"/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Model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3.69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25.8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74.3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24.8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3.08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2.59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32.3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82.1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4.48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2.30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467544" y="4509120"/>
            <a:ext cx="7920880" cy="16619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dirty="0" smtClean="0">
              <a:latin typeface="Arial" pitchFamily="34" charset="0"/>
              <a:cs typeface="Arial" pitchFamily="34" charset="0"/>
            </a:endParaRPr>
          </a:p>
          <a:p>
            <a:r>
              <a:rPr lang="en-US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Haiku leads, but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at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$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21 in API fees, ~8× more than GPT-4o-mini ($2.75)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Qwen3-14B is the best open-source, close to API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quality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LLaMA-3.1-8B fails entirely, Qwen3 scaling non-monotonic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 </a:t>
            </a:r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2: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3962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83.9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4.25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Haiku → GPT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87.7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 →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3.92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79.0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72.0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5.00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2.91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26.7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77.2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3.11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69.7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2.83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33.7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5.20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34.2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5.10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18.1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63.4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35.5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1.53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42.5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28.5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14.5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5301209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l-GR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l-GR" sz="1600" dirty="0" smtClean="0">
                <a:latin typeface="Arial" pitchFamily="34" charset="0"/>
                <a:cs typeface="Arial" pitchFamily="34" charset="0"/>
              </a:rPr>
              <a:t>  </a:t>
            </a:r>
            <a:r>
              <a:rPr lang="en-US" sz="1600" dirty="0" smtClean="0">
                <a:latin typeface="Arial" pitchFamily="34" charset="0"/>
                <a:cs typeface="Arial" pitchFamily="34" charset="0"/>
              </a:rPr>
              <a:t>• API cost drops 10×: Haiku $21 → $2.10, GPT $2.75 → $0.20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Decomposition helps weak models dramatically: LLaMA-3.1-8B, GPT-4o-mini,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but hurts strong open-source: Qwen3-14B, Phi-4-14B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DST is the bottleneck: Haiku → GPT vs GPT → Haiku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Exp 3: Results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7119495" cy="24384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34883"/>
                <a:gridCol w="862969"/>
                <a:gridCol w="1150625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JGA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SlotF1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Inform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Success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BLEU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Combined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61.3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12.26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 → 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46.9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66.7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8.71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47.3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89.1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48.4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11.35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43.5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39.8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9.39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87.1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50.5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40.3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9.22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88.3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36.0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8.35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467544" y="4005064"/>
            <a:ext cx="7920880" cy="212365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Key 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Fine-tuning closes the DST gap with commercial APIs: Qwen3-14B FT reaches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JGA 47.7, matching Haiku Exp 2 (45.1)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But Combined Score stays at ~71, 21 points behind Haiku (91.4). Bottleneck 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shifts from DST to ResponseGen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Phi-4-14B recovers from its Exp 2 drop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Cross-Experiment Synthesis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467544" y="1268760"/>
          <a:ext cx="5112568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2157423"/>
                <a:gridCol w="647227"/>
                <a:gridCol w="647227"/>
                <a:gridCol w="719141"/>
                <a:gridCol w="941550"/>
              </a:tblGrid>
              <a:tr h="299110"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Config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Best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Claude 3 Haiku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90.8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91.4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80.8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76.0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70.6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1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Phi-4-14B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67.4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55.2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70.8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GPT-4o-mini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78.6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b="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Qwen3-4B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47.7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67.1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53.8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Qwen3-8B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41.6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52.2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1" dirty="0" smtClean="0">
                          <a:latin typeface="Arial" pitchFamily="34" charset="0"/>
                          <a:cs typeface="Arial" pitchFamily="34" charset="0"/>
                        </a:rPr>
                        <a:t>62.2</a:t>
                      </a:r>
                      <a:endParaRPr lang="en-US" sz="1400" b="1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LLaMA-3.1-8B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10.4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47.0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54.6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  <a:tr h="29911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LLaMA-3.2-3B</a:t>
                      </a: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—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22.8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dirty="0" smtClean="0">
                          <a:latin typeface="Arial" pitchFamily="34" charset="0"/>
                          <a:cs typeface="Arial" pitchFamily="34" charset="0"/>
                        </a:rPr>
                        <a:t>57.8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b="0" dirty="0" smtClean="0">
                          <a:latin typeface="Arial" pitchFamily="34" charset="0"/>
                          <a:cs typeface="Arial" pitchFamily="34" charset="0"/>
                        </a:rPr>
                        <a:t>Exp 3</a:t>
                      </a:r>
                      <a:endParaRPr lang="en-US" sz="1400" dirty="0">
                        <a:latin typeface="Arial" pitchFamily="34" charset="0"/>
                        <a:cs typeface="Arial" pitchFamily="34" charset="0"/>
                      </a:endParaRPr>
                    </a:p>
                  </a:txBody>
                  <a:tcPr marL="45720" marR="45720" anchor="ctr">
                    <a:noFill/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395536" y="4221088"/>
            <a:ext cx="7920880" cy="184665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Arial" pitchFamily="34" charset="0"/>
                <a:cs typeface="Arial" pitchFamily="34" charset="0"/>
              </a:rPr>
              <a:t>Findings:</a:t>
            </a:r>
          </a:p>
          <a:p>
            <a:endParaRPr lang="en-US" sz="1600" dirty="0" smtClean="0">
              <a:latin typeface="Arial" pitchFamily="34" charset="0"/>
              <a:cs typeface="Arial" pitchFamily="34" charset="0"/>
            </a:endParaRP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No single architecture wins for every model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• Three patterns: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up: LLaMA family, Qwen3-8B (every step helps)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Monotonic down: Qwen3-14B (already grounded, hurt by each step)</a:t>
            </a:r>
          </a:p>
          <a:p>
            <a:r>
              <a:rPr lang="en-US" sz="1600" dirty="0" smtClean="0">
                <a:latin typeface="Arial" pitchFamily="34" charset="0"/>
                <a:cs typeface="Arial" pitchFamily="34" charset="0"/>
              </a:rPr>
              <a:t>     – Non-monotonic: Phi-4-14B, Qwen3-4B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Key Findings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12776"/>
            <a:ext cx="8229600" cy="49685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1: Architectural decomposition.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Helps conditionally. Weak base models gain.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Already-strong open-source models lose ground.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DST is the dominant bottleneck.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Question 2: Role-specific LoRA fine-tuning.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Closes the DST gap with commercial APIs.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End-to-end Combined stays below APIs. </a:t>
            </a: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Observed pattern: 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Disciplined models tend to peak in Exp 1.</a:t>
            </a:r>
          </a:p>
          <a:p>
            <a:pPr marL="0" indent="0"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Undisciplined ones tend to gain from Exp 2 or Exp 3.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l"/>
            <a:r>
              <a:rPr lang="en-US" sz="3200" b="1" dirty="0" smtClean="0">
                <a:latin typeface="Arial" pitchFamily="34" charset="0"/>
                <a:cs typeface="Arial" pitchFamily="34" charset="0"/>
              </a:rPr>
              <a:t>Limitations and Future Work</a:t>
            </a:r>
            <a:endParaRPr lang="en-US" sz="3200" b="1" dirty="0">
              <a:latin typeface="Arial" pitchFamily="34" charset="0"/>
              <a:cs typeface="Arial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997152"/>
          </a:xfrm>
        </p:spPr>
        <p:txBody>
          <a:bodyPr>
            <a:noAutofit/>
          </a:bodyPr>
          <a:lstStyle/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Limitations: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Results sensitive to implementation choices (prompts, delex protocol, fine-tuning hyperparameters)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Domain scope: hotel + restaurant only, not directly comparable to full-domain MultiWOZ leaderboard</a:t>
            </a:r>
          </a:p>
          <a:p>
            <a:pPr>
              <a:buNone/>
            </a:pPr>
            <a:endParaRPr lang="en-US" sz="2000" dirty="0" smtClean="0">
              <a:latin typeface="Arial" pitchFamily="34" charset="0"/>
              <a:cs typeface="Arial" pitchFamily="34" charset="0"/>
            </a:endParaRP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Future Work: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Extend to all MultiWOZ domains, or specialize to a single domain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Explore prompting alternatives, e.g., retrieval-augmented few-shot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DPO post-training: preference-based fine-tuning</a:t>
            </a:r>
          </a:p>
          <a:p>
            <a:pPr>
              <a:buNone/>
            </a:pPr>
            <a:r>
              <a:rPr lang="en-US" sz="2000" dirty="0" smtClean="0">
                <a:latin typeface="Arial" pitchFamily="34" charset="0"/>
                <a:cs typeface="Arial" pitchFamily="34" charset="0"/>
              </a:rPr>
              <a:t>  • Workflow-graph orchestration with tool calling for booking flows</a:t>
            </a:r>
            <a:endParaRPr lang="en-US" sz="2000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072307"/>
            <a:ext cx="8229600" cy="4713387"/>
          </a:xfrm>
        </p:spPr>
        <p:txBody>
          <a:bodyPr>
            <a:normAutofit/>
          </a:bodyPr>
          <a:lstStyle/>
          <a:p>
            <a:pPr algn="ctr">
              <a:buNone/>
            </a:pPr>
            <a:r>
              <a:rPr lang="en-US" sz="8000" b="1" dirty="0" smtClean="0">
                <a:latin typeface="Arial" pitchFamily="34" charset="0"/>
                <a:cs typeface="Arial" pitchFamily="34" charset="0"/>
              </a:rPr>
              <a:t>Thank you</a:t>
            </a:r>
            <a:endParaRPr lang="en-US" sz="8000" b="1" dirty="0">
              <a:latin typeface="Arial" pitchFamily="34" charset="0"/>
              <a:cs typeface="Arial" pitchFamily="34" charset="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3398</TotalTime>
  <Words>1638</Words>
  <Application>Microsoft Office PowerPoint</Application>
  <PresentationFormat>On-screen Show (4:3)</PresentationFormat>
  <Paragraphs>437</Paragraphs>
  <Slides>18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19" baseType="lpstr">
      <vt:lpstr>Office Theme</vt:lpstr>
      <vt:lpstr>NATIONAL AND KAPODISTRIAN UNIVERSITY OF ATHENS  DEPARTMENT OF INFORMATICS AND TELECOMMUNICATIONS</vt:lpstr>
      <vt:lpstr>Motivation</vt:lpstr>
      <vt:lpstr>Research Questions</vt:lpstr>
      <vt:lpstr>Dataset: MultiWOZ 2.2</vt:lpstr>
      <vt:lpstr>Positioning This Work</vt:lpstr>
      <vt:lpstr>Experimental Design</vt:lpstr>
      <vt:lpstr>Exp 1: Single-LLM Baseline</vt:lpstr>
      <vt:lpstr>Exp 2: Zero-Shot Modular Pipeline</vt:lpstr>
      <vt:lpstr>Exp 3: Fine-Tuned Modular Pipeline</vt:lpstr>
      <vt:lpstr>Models and Infrastructure</vt:lpstr>
      <vt:lpstr>Evaluation Metrics</vt:lpstr>
      <vt:lpstr>Exp 1: Results</vt:lpstr>
      <vt:lpstr>Exp 2: Results</vt:lpstr>
      <vt:lpstr>Exp 3: Results</vt:lpstr>
      <vt:lpstr>Cross-Experiment Synthesis</vt:lpstr>
      <vt:lpstr>Key Findings</vt:lpstr>
      <vt:lpstr>Limitations and Future Work</vt:lpstr>
      <vt:lpstr>Slide 18</vt:lpstr>
    </vt:vector>
  </TitlesOfParts>
  <Company>Grizli777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Giorgos Xidias</dc:creator>
  <cp:lastModifiedBy>Giorgos Xidias</cp:lastModifiedBy>
  <cp:revision>181</cp:revision>
  <dcterms:created xsi:type="dcterms:W3CDTF">2026-05-18T05:31:02Z</dcterms:created>
  <dcterms:modified xsi:type="dcterms:W3CDTF">2026-06-16T08:00:09Z</dcterms:modified>
</cp:coreProperties>
</file>